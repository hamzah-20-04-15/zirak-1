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Bebas Neue Cyrillic" panose="020B0604020202020204" charset="0"/>
      <p:regular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Roboto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19C64-9C53-4918-B0B9-40FE2A31C0B7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028C6-47D6-4B54-8217-DAB83E95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1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028C6-47D6-4B54-8217-DAB83E95EC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8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489909"/>
            <a:ext cx="10611580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Project Proposal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048125"/>
            <a:ext cx="10611580" cy="155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337944"/>
            <a:ext cx="10271700" cy="373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current transport systems face challenges like outdated infrastructure, safety concerns, and inefficient scheduling. Our project aims to integrate GPS and SIM-based technologies to address these issues. This system will provide real-time tracking, accurate arrival updates, and improved safety. It will also optimize routes, reduce delays, and minimize energy wastage. </a:t>
            </a:r>
          </a:p>
        </p:txBody>
      </p:sp>
      <p:sp>
        <p:nvSpPr>
          <p:cNvPr id="4" name="Freeform 4"/>
          <p:cNvSpPr/>
          <p:nvPr/>
        </p:nvSpPr>
        <p:spPr>
          <a:xfrm>
            <a:off x="13529441" y="5406672"/>
            <a:ext cx="5309822" cy="5648746"/>
          </a:xfrm>
          <a:custGeom>
            <a:avLst/>
            <a:gdLst/>
            <a:ahLst/>
            <a:cxnLst/>
            <a:rect l="l" t="t" r="r" b="b"/>
            <a:pathLst>
              <a:path w="5309822" h="5648746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183572"/>
            <a:ext cx="10611580" cy="155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dirty="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56796" y="1043814"/>
            <a:ext cx="10611580" cy="95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spc="-11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OBJEctives/Goals/Outcomes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2538" y="2160956"/>
            <a:ext cx="17696862" cy="7830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3"/>
              </a:lnSpc>
            </a:pPr>
            <a:r>
              <a:rPr lang="en-US" sz="4024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This project improves transport reliability using GPS tracking and SIM-based communication for real-time tracking and arrival notifications.</a:t>
            </a:r>
          </a:p>
          <a:p>
            <a:pPr algn="l">
              <a:lnSpc>
                <a:spcPts val="5633"/>
              </a:lnSpc>
            </a:pPr>
            <a:endParaRPr lang="en-US" sz="4024" dirty="0">
              <a:solidFill>
                <a:srgbClr val="FFFFFF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  <a:p>
            <a:pPr algn="l">
              <a:lnSpc>
                <a:spcPts val="5633"/>
              </a:lnSpc>
            </a:pPr>
            <a:r>
              <a:rPr lang="en-US" sz="4024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Develop a smart train system that:  </a:t>
            </a:r>
          </a:p>
          <a:p>
            <a:pPr marL="571500" indent="-571500" algn="l">
              <a:lnSpc>
                <a:spcPts val="5633"/>
              </a:lnSpc>
              <a:buFontTx/>
              <a:buChar char="-"/>
            </a:pPr>
            <a:r>
              <a:rPr lang="en-US" sz="4024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Enhances safety with manual/automatic control and object distance detection. </a:t>
            </a:r>
          </a:p>
          <a:p>
            <a:pPr marL="571500" indent="-571500" algn="l">
              <a:lnSpc>
                <a:spcPts val="5633"/>
              </a:lnSpc>
              <a:buFontTx/>
              <a:buChar char="-"/>
            </a:pPr>
            <a:r>
              <a:rPr lang="en-US" sz="4024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Provides passengers with real-time location tracking, seat booking, and feedback options.  </a:t>
            </a:r>
          </a:p>
          <a:p>
            <a:pPr marL="571500" indent="-571500" algn="l">
              <a:lnSpc>
                <a:spcPts val="5633"/>
              </a:lnSpc>
              <a:buFontTx/>
              <a:buChar char="-"/>
            </a:pPr>
            <a:r>
              <a:rPr lang="en-US" sz="4024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Ensures connectivity using Wi-Fi for live updates and services.</a:t>
            </a:r>
          </a:p>
          <a:p>
            <a:pPr algn="l">
              <a:lnSpc>
                <a:spcPts val="5633"/>
              </a:lnSpc>
            </a:pPr>
            <a:endParaRPr lang="en-US" sz="4024" dirty="0">
              <a:solidFill>
                <a:srgbClr val="FFFFFF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  <a:p>
            <a:pPr algn="l">
              <a:lnSpc>
                <a:spcPts val="5633"/>
              </a:lnSpc>
            </a:pPr>
            <a:r>
              <a:rPr lang="en-US" sz="4024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Impact:</a:t>
            </a:r>
          </a:p>
          <a:p>
            <a:pPr algn="l">
              <a:lnSpc>
                <a:spcPts val="5633"/>
              </a:lnSpc>
            </a:pPr>
            <a:r>
              <a:rPr lang="en-US" sz="4024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Smarter, safer, and more efficient transport for passengers and operators.</a:t>
            </a:r>
          </a:p>
          <a:p>
            <a:pPr algn="l">
              <a:lnSpc>
                <a:spcPts val="5633"/>
              </a:lnSpc>
              <a:spcBef>
                <a:spcPct val="0"/>
              </a:spcBef>
            </a:pPr>
            <a:endParaRPr lang="en-US" sz="4024" dirty="0">
              <a:solidFill>
                <a:srgbClr val="FFFFFF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29441" y="5406672"/>
            <a:ext cx="5309822" cy="5648746"/>
          </a:xfrm>
          <a:custGeom>
            <a:avLst/>
            <a:gdLst/>
            <a:ahLst/>
            <a:cxnLst/>
            <a:rect l="l" t="t" r="r" b="b"/>
            <a:pathLst>
              <a:path w="5309822" h="5648746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92748" y="219078"/>
            <a:ext cx="7722089" cy="112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69"/>
              </a:lnSpc>
            </a:pPr>
            <a:r>
              <a:rPr lang="en-US" sz="654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WHAt?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2748" y="971550"/>
            <a:ext cx="15772891" cy="642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problems in our transport system :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Unreliable Transport: Frequent delay and increase costs.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Inefficient Systems: No real-time updates, SMS alerts, or remote emergency controls like stopping a train.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Live Tracking: Damaged vehicles/trains can’t be easily located, delaying assistance.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Energy &amp; Safety Risks: Inefficiencies waste energy and passenger safety .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7829550"/>
            <a:ext cx="13821116" cy="211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2"/>
              </a:lnSpc>
            </a:pPr>
            <a:r>
              <a:rPr lang="en-US" sz="300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solution: We are developing a next-generation transport system with real-time location tracking and SMS-based controls. It will provide live updates, notify users of delays and seating availability, and enable remote emergency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512" y="933450"/>
            <a:ext cx="17276975" cy="847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3"/>
              </a:lnSpc>
            </a:pPr>
            <a:r>
              <a:rPr lang="en-US" sz="469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Why This Project? Addressing Critical Transport Challenges</a:t>
            </a:r>
          </a:p>
          <a:p>
            <a:pPr algn="l">
              <a:lnSpc>
                <a:spcPts val="5033"/>
              </a:lnSpc>
            </a:pPr>
            <a:endParaRPr lang="en-US" sz="4695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algn="l">
              <a:lnSpc>
                <a:spcPts val="5033"/>
              </a:lnSpc>
            </a:pPr>
            <a:r>
              <a:rPr lang="en-US" sz="359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🚆 Outdated Infrastructure</a:t>
            </a:r>
          </a:p>
          <a:p>
            <a:pPr algn="l">
              <a:lnSpc>
                <a:spcPts val="5033"/>
              </a:lnSpc>
            </a:pPr>
            <a:r>
              <a:rPr lang="en-US" sz="359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Pakistan’s rail accidents are largely due to faulty tracks, outdated signals, and poor maintenance. Integrating GPS and SIM-based systems allows real-time monitoring of train locations and track conditions, preventing derailments and collisions. Automated alerts for track defects or misaligned switches enable proactive safety measures before accidents occur.</a:t>
            </a:r>
          </a:p>
          <a:p>
            <a:pPr algn="l">
              <a:lnSpc>
                <a:spcPts val="5033"/>
              </a:lnSpc>
            </a:pPr>
            <a:endParaRPr lang="en-US" sz="3595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algn="l">
              <a:lnSpc>
                <a:spcPts val="5033"/>
              </a:lnSpc>
            </a:pPr>
            <a:r>
              <a:rPr lang="en-US" sz="359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⚠️ Safety Concerns</a:t>
            </a:r>
          </a:p>
          <a:p>
            <a:pPr algn="l">
              <a:lnSpc>
                <a:spcPts val="5033"/>
              </a:lnSpc>
            </a:pPr>
            <a:r>
              <a:rPr lang="en-US" sz="359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Human errors—like miscommunication and incorrect signaling—are major causes of accidents. GPS and automated SIM-based communication ensure accurate, real-time coordination between trains and control centers, reducing signal errors and unsafe operations for a safer rail network.</a:t>
            </a:r>
          </a:p>
          <a:p>
            <a:pPr algn="l">
              <a:lnSpc>
                <a:spcPts val="5033"/>
              </a:lnSpc>
            </a:pPr>
            <a:endParaRPr lang="en-US" sz="3595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4792" y="1085989"/>
            <a:ext cx="17058416" cy="8038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0"/>
              </a:lnSpc>
            </a:pPr>
            <a:endParaRPr/>
          </a:p>
          <a:p>
            <a:pPr algn="l">
              <a:lnSpc>
                <a:spcPts val="5790"/>
              </a:lnSpc>
            </a:pPr>
            <a:r>
              <a:rPr lang="en-US" sz="4135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📅 Inefficient Scheduling &amp; Routing</a:t>
            </a:r>
          </a:p>
          <a:p>
            <a:pPr algn="l">
              <a:lnSpc>
                <a:spcPts val="5790"/>
              </a:lnSpc>
            </a:pPr>
            <a:r>
              <a:rPr lang="en-US" sz="4135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Poor scheduling leads to train collisions and near-misses. With GPS-based real-time tracking, trains can be precisely monitored, preventing multiple trains from occupying the same track segment. This reduces congestion, improves efficiency, and minimizes accident risks.</a:t>
            </a:r>
          </a:p>
          <a:p>
            <a:pPr algn="l">
              <a:lnSpc>
                <a:spcPts val="5790"/>
              </a:lnSpc>
            </a:pPr>
            <a:endParaRPr lang="en-US" sz="4135">
              <a:solidFill>
                <a:srgbClr val="FFFFFF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  <a:p>
            <a:pPr algn="l">
              <a:lnSpc>
                <a:spcPts val="5790"/>
              </a:lnSpc>
            </a:pPr>
            <a:r>
              <a:rPr lang="en-US" sz="4135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🌍 Environmental Impact</a:t>
            </a:r>
          </a:p>
          <a:p>
            <a:pPr algn="l">
              <a:lnSpc>
                <a:spcPts val="5790"/>
              </a:lnSpc>
            </a:pPr>
            <a:r>
              <a:rPr lang="en-US" sz="4135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Delays and mismanagement cause excessive fuel consumption and emissions. By optimizing routes and schedules, real-time tracking helps reduce unnecessary stops and idling, lowering energy waste and making rail transport more eco-friendly.</a:t>
            </a:r>
          </a:p>
          <a:p>
            <a:pPr algn="l">
              <a:lnSpc>
                <a:spcPts val="5790"/>
              </a:lnSpc>
              <a:spcBef>
                <a:spcPct val="0"/>
              </a:spcBef>
            </a:pPr>
            <a:endParaRPr lang="en-US" sz="4135">
              <a:solidFill>
                <a:srgbClr val="FFFFFF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29441" y="5406672"/>
            <a:ext cx="5309822" cy="5648746"/>
          </a:xfrm>
          <a:custGeom>
            <a:avLst/>
            <a:gdLst/>
            <a:ahLst/>
            <a:cxnLst/>
            <a:rect l="l" t="t" r="r" b="b"/>
            <a:pathLst>
              <a:path w="5309822" h="5648746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01988" y="2241684"/>
            <a:ext cx="13662057" cy="7650752"/>
          </a:xfrm>
          <a:custGeom>
            <a:avLst/>
            <a:gdLst/>
            <a:ahLst/>
            <a:cxnLst/>
            <a:rect l="l" t="t" r="r" b="b"/>
            <a:pathLst>
              <a:path w="13662057" h="7650752">
                <a:moveTo>
                  <a:pt x="0" y="0"/>
                </a:moveTo>
                <a:lnTo>
                  <a:pt x="13662058" y="0"/>
                </a:lnTo>
                <a:lnTo>
                  <a:pt x="13662058" y="7650752"/>
                </a:lnTo>
                <a:lnTo>
                  <a:pt x="0" y="765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451802"/>
            <a:ext cx="10611580" cy="155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HOW?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9765" y="1117277"/>
            <a:ext cx="1061158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29441" y="5406672"/>
            <a:ext cx="5309822" cy="5648746"/>
          </a:xfrm>
          <a:custGeom>
            <a:avLst/>
            <a:gdLst/>
            <a:ahLst/>
            <a:cxnLst/>
            <a:rect l="l" t="t" r="r" b="b"/>
            <a:pathLst>
              <a:path w="5309822" h="5648746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603112" y="4638245"/>
            <a:ext cx="4656188" cy="1984700"/>
          </a:xfrm>
          <a:custGeom>
            <a:avLst/>
            <a:gdLst/>
            <a:ahLst/>
            <a:cxnLst/>
            <a:rect l="l" t="t" r="r" b="b"/>
            <a:pathLst>
              <a:path w="4656188" h="1984700">
                <a:moveTo>
                  <a:pt x="0" y="0"/>
                </a:moveTo>
                <a:lnTo>
                  <a:pt x="4656188" y="0"/>
                </a:lnTo>
                <a:lnTo>
                  <a:pt x="4656188" y="1984700"/>
                </a:lnTo>
                <a:lnTo>
                  <a:pt x="0" y="1984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19689" y="3713657"/>
            <a:ext cx="6309078" cy="3472644"/>
          </a:xfrm>
          <a:custGeom>
            <a:avLst/>
            <a:gdLst/>
            <a:ahLst/>
            <a:cxnLst/>
            <a:rect l="l" t="t" r="r" b="b"/>
            <a:pathLst>
              <a:path w="6309078" h="3472644">
                <a:moveTo>
                  <a:pt x="0" y="0"/>
                </a:moveTo>
                <a:lnTo>
                  <a:pt x="6309078" y="0"/>
                </a:lnTo>
                <a:lnTo>
                  <a:pt x="6309078" y="3472644"/>
                </a:lnTo>
                <a:lnTo>
                  <a:pt x="0" y="3472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160572" y="4233499"/>
            <a:ext cx="4688559" cy="2794192"/>
          </a:xfrm>
          <a:custGeom>
            <a:avLst/>
            <a:gdLst/>
            <a:ahLst/>
            <a:cxnLst/>
            <a:rect l="l" t="t" r="r" b="b"/>
            <a:pathLst>
              <a:path w="4688559" h="2794192">
                <a:moveTo>
                  <a:pt x="0" y="0"/>
                </a:moveTo>
                <a:lnTo>
                  <a:pt x="4688559" y="0"/>
                </a:lnTo>
                <a:lnTo>
                  <a:pt x="4688559" y="2794192"/>
                </a:lnTo>
                <a:lnTo>
                  <a:pt x="0" y="2794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04875"/>
            <a:ext cx="10611580" cy="95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spc="-11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COMPONENTS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46079" y="1765300"/>
            <a:ext cx="205434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29441" y="5406672"/>
            <a:ext cx="5309822" cy="5648746"/>
          </a:xfrm>
          <a:custGeom>
            <a:avLst/>
            <a:gdLst/>
            <a:ahLst/>
            <a:cxnLst/>
            <a:rect l="l" t="t" r="r" b="b"/>
            <a:pathLst>
              <a:path w="5309822" h="5648746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758560" y="3195181"/>
            <a:ext cx="8248688" cy="5732139"/>
          </a:xfrm>
          <a:custGeom>
            <a:avLst/>
            <a:gdLst/>
            <a:ahLst/>
            <a:cxnLst/>
            <a:rect l="l" t="t" r="r" b="b"/>
            <a:pathLst>
              <a:path w="8248688" h="5732139">
                <a:moveTo>
                  <a:pt x="0" y="0"/>
                </a:moveTo>
                <a:lnTo>
                  <a:pt x="8248688" y="0"/>
                </a:lnTo>
                <a:lnTo>
                  <a:pt x="8248688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810281" y="933450"/>
            <a:ext cx="385771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29441" y="5406672"/>
            <a:ext cx="5309822" cy="5648746"/>
          </a:xfrm>
          <a:custGeom>
            <a:avLst/>
            <a:gdLst/>
            <a:ahLst/>
            <a:cxnLst/>
            <a:rect l="l" t="t" r="r" b="b"/>
            <a:pathLst>
              <a:path w="5309822" h="5648746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62414" y="2739904"/>
            <a:ext cx="5194125" cy="5713537"/>
          </a:xfrm>
          <a:custGeom>
            <a:avLst/>
            <a:gdLst/>
            <a:ahLst/>
            <a:cxnLst/>
            <a:rect l="l" t="t" r="r" b="b"/>
            <a:pathLst>
              <a:path w="5194125" h="5713537">
                <a:moveTo>
                  <a:pt x="0" y="0"/>
                </a:moveTo>
                <a:lnTo>
                  <a:pt x="5194125" y="0"/>
                </a:lnTo>
                <a:lnTo>
                  <a:pt x="5194125" y="5713537"/>
                </a:lnTo>
                <a:lnTo>
                  <a:pt x="0" y="5713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113351" y="2739904"/>
            <a:ext cx="5913755" cy="4949839"/>
          </a:xfrm>
          <a:custGeom>
            <a:avLst/>
            <a:gdLst/>
            <a:ahLst/>
            <a:cxnLst/>
            <a:rect l="l" t="t" r="r" b="b"/>
            <a:pathLst>
              <a:path w="5913755" h="4949839">
                <a:moveTo>
                  <a:pt x="0" y="0"/>
                </a:moveTo>
                <a:lnTo>
                  <a:pt x="5913755" y="0"/>
                </a:lnTo>
                <a:lnTo>
                  <a:pt x="5913755" y="4949839"/>
                </a:lnTo>
                <a:lnTo>
                  <a:pt x="0" y="494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70952" y="2957038"/>
            <a:ext cx="5346095" cy="2639635"/>
          </a:xfrm>
          <a:custGeom>
            <a:avLst/>
            <a:gdLst/>
            <a:ahLst/>
            <a:cxnLst/>
            <a:rect l="l" t="t" r="r" b="b"/>
            <a:pathLst>
              <a:path w="5346095" h="2639635">
                <a:moveTo>
                  <a:pt x="0" y="0"/>
                </a:moveTo>
                <a:lnTo>
                  <a:pt x="5346096" y="0"/>
                </a:lnTo>
                <a:lnTo>
                  <a:pt x="5346096" y="2639635"/>
                </a:lnTo>
                <a:lnTo>
                  <a:pt x="0" y="2639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057447" y="933450"/>
            <a:ext cx="272563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76420" y="553163"/>
            <a:ext cx="10611580" cy="155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Teams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5619331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9124950" y="2468270"/>
            <a:ext cx="0" cy="7388404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562355" y="6088851"/>
            <a:ext cx="36466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GPS MODULE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91369" y="2401595"/>
            <a:ext cx="430376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SMS MODULE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02179" y="6088851"/>
            <a:ext cx="282758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Hardware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78202" y="2401595"/>
            <a:ext cx="278360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Software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3590" y="3567112"/>
            <a:ext cx="621283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JAWAD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58352" y="3667563"/>
            <a:ext cx="244189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ABDULLAH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FAHAD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49057" y="7459816"/>
            <a:ext cx="244189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ISMAIL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TARIQ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57643" y="7459816"/>
            <a:ext cx="197212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HAMZAH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7440</TotalTime>
  <Words>478</Words>
  <Application>Microsoft Office PowerPoint</Application>
  <PresentationFormat>Custom</PresentationFormat>
  <Paragraphs>58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Canva Sans Bold</vt:lpstr>
      <vt:lpstr>Bebas Neue</vt:lpstr>
      <vt:lpstr>Roboto</vt:lpstr>
      <vt:lpstr>Bebas Neue Cyrillic</vt:lpstr>
      <vt:lpstr>Arial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consectetur adipiscing elit. Aenean rutrum nec dui a consequat. Nam convallis elit quis tincidunt efficitur. Suspendisse finibus leo enim, at aliquam sapien pellentesque non. Sed vitae arcu mi. Proin eget quam nibh. Vestibulum</dc:title>
  <dc:creator>Muhammad Hamzah Iqbal</dc:creator>
  <cp:lastModifiedBy>Muhammad Hamzah Iqbal</cp:lastModifiedBy>
  <cp:revision>2</cp:revision>
  <dcterms:created xsi:type="dcterms:W3CDTF">2006-08-16T00:00:00Z</dcterms:created>
  <dcterms:modified xsi:type="dcterms:W3CDTF">2025-02-02T16:40:24Z</dcterms:modified>
  <dc:identifier>DAGdZ1ox5PY</dc:identifier>
</cp:coreProperties>
</file>